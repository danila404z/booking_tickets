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2" r:id="rId4"/>
    <p:sldId id="270" r:id="rId5"/>
    <p:sldId id="258" r:id="rId6"/>
    <p:sldId id="260" r:id="rId7"/>
    <p:sldId id="259" r:id="rId8"/>
    <p:sldId id="262" r:id="rId9"/>
    <p:sldId id="268" r:id="rId10"/>
    <p:sldId id="269" r:id="rId11"/>
    <p:sldId id="264" r:id="rId12"/>
    <p:sldId id="271" r:id="rId13"/>
    <p:sldId id="265" r:id="rId14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9F9"/>
    <a:srgbClr val="78AEF6"/>
    <a:srgbClr val="C0C7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612" y="84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5881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599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893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451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4219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slide" Target="slide1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7120" y="1330523"/>
            <a:ext cx="7609761" cy="30684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041"/>
              </a:lnSpc>
              <a:buNone/>
            </a:pPr>
            <a:r>
              <a:rPr lang="en-US" sz="4833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"Создание приложения для системы бронирования услуг спортивного комплекса"</a:t>
            </a:r>
            <a:endParaRPr lang="en-US" sz="4833" dirty="0"/>
          </a:p>
        </p:txBody>
      </p:sp>
      <p:sp>
        <p:nvSpPr>
          <p:cNvPr id="6" name="Text 2"/>
          <p:cNvSpPr/>
          <p:nvPr/>
        </p:nvSpPr>
        <p:spPr>
          <a:xfrm>
            <a:off x="767120" y="5547654"/>
            <a:ext cx="7609761" cy="3271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77"/>
              </a:lnSpc>
              <a:buNone/>
            </a:pPr>
            <a:r>
              <a:rPr lang="en-US" sz="161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                                                   Выполнил:</a:t>
            </a:r>
            <a:endParaRPr lang="en-US" sz="1611" dirty="0"/>
          </a:p>
        </p:txBody>
      </p:sp>
      <p:sp>
        <p:nvSpPr>
          <p:cNvPr id="7" name="Text 3"/>
          <p:cNvSpPr/>
          <p:nvPr/>
        </p:nvSpPr>
        <p:spPr>
          <a:xfrm>
            <a:off x="767120" y="6104986"/>
            <a:ext cx="7609761" cy="16359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ts val="2577"/>
              </a:lnSpc>
              <a:buNone/>
            </a:pPr>
            <a:r>
              <a:rPr lang="en-US" sz="161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Захаров Данила,
ученик 10А класса
МАОУ «СОШ № 8»
г. Гая Оренбургской области
Руководитель: Медякова Людмила Юрьевна</a:t>
            </a:r>
            <a:endParaRPr lang="en-US" sz="161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5766" y="259854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532" y="-45100"/>
            <a:ext cx="14661932" cy="24620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05843" y="2914342"/>
            <a:ext cx="6554748" cy="6141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836"/>
              </a:lnSpc>
              <a:buNone/>
            </a:pPr>
            <a:r>
              <a:rPr lang="en-US" sz="3869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Проблема покупки билетов</a:t>
            </a:r>
            <a:endParaRPr lang="en-US" sz="3869" dirty="0"/>
          </a:p>
        </p:txBody>
      </p:sp>
      <p:sp>
        <p:nvSpPr>
          <p:cNvPr id="8" name="Text 4"/>
          <p:cNvSpPr/>
          <p:nvPr/>
        </p:nvSpPr>
        <p:spPr>
          <a:xfrm>
            <a:off x="1764683" y="4067711"/>
            <a:ext cx="2342197" cy="6138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18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Длительное время ожидания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1764683" y="5261945"/>
            <a:ext cx="2854614" cy="22424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76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Долгие очереди в кассу могут быть утомительными и раздражающими для клиентов спортивного комплекса.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5484349" y="3991314"/>
            <a:ext cx="701066" cy="675323"/>
          </a:xfrm>
          <a:prstGeom prst="roundRect">
            <a:avLst>
              <a:gd name="adj" fmla="val 20001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13035" y="4109444"/>
            <a:ext cx="243694" cy="56276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02"/>
              </a:lnSpc>
              <a:buNone/>
            </a:pPr>
            <a:r>
              <a:rPr lang="en-US" sz="232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2321" dirty="0"/>
          </a:p>
        </p:txBody>
      </p:sp>
      <p:sp>
        <p:nvSpPr>
          <p:cNvPr id="12" name="Text 8"/>
          <p:cNvSpPr/>
          <p:nvPr/>
        </p:nvSpPr>
        <p:spPr>
          <a:xfrm>
            <a:off x="6210498" y="4073782"/>
            <a:ext cx="2665488" cy="876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18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Ограниченность вариантов оплаты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6210497" y="5261945"/>
            <a:ext cx="3296109" cy="3114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76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Ограниченные варианты оплаты могут создавать неудобства для посетителей и уменьшить привлекательность спортивного комплекса.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11035875" y="4067711"/>
            <a:ext cx="2342197" cy="6138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18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Нет гарантии наличия билетов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11035874" y="5261945"/>
            <a:ext cx="2963908" cy="2021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76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Клиенты могут </a:t>
            </a:r>
            <a:r>
              <a:rPr lang="en-US" sz="2000" dirty="0">
                <a:solidFill>
                  <a:srgbClr val="404155"/>
                </a:solidFill>
                <a:latin typeface="Nobile" pitchFamily="34" charset="0"/>
                <a:ea typeface="Corben"/>
                <a:cs typeface="Nobile" pitchFamily="34" charset="-120"/>
              </a:rPr>
              <a:t>быть</a:t>
            </a:r>
            <a:r>
              <a:rPr lang="en-US" sz="2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разочарованы, если не могут получить билеты из-за ограниченности мест.</a:t>
            </a:r>
            <a:endParaRPr lang="en-US" sz="2000" dirty="0"/>
          </a:p>
        </p:txBody>
      </p:sp>
      <p:sp>
        <p:nvSpPr>
          <p:cNvPr id="19" name="Shape 6"/>
          <p:cNvSpPr/>
          <p:nvPr/>
        </p:nvSpPr>
        <p:spPr>
          <a:xfrm>
            <a:off x="1033480" y="3991314"/>
            <a:ext cx="701066" cy="675323"/>
          </a:xfrm>
          <a:prstGeom prst="roundRect">
            <a:avLst>
              <a:gd name="adj" fmla="val 20001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20" name="Text 7"/>
          <p:cNvSpPr/>
          <p:nvPr/>
        </p:nvSpPr>
        <p:spPr>
          <a:xfrm>
            <a:off x="1262166" y="4109444"/>
            <a:ext cx="243694" cy="56276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02"/>
              </a:lnSpc>
              <a:buNone/>
            </a:pPr>
            <a:r>
              <a:rPr lang="ru-RU" sz="2321" dirty="0">
                <a:solidFill>
                  <a:srgbClr val="404155"/>
                </a:solidFill>
                <a:ea typeface="Corben" pitchFamily="34" charset="-122"/>
              </a:rPr>
              <a:t>1</a:t>
            </a:r>
            <a:endParaRPr lang="en-US" sz="2321" dirty="0"/>
          </a:p>
        </p:txBody>
      </p:sp>
      <p:sp>
        <p:nvSpPr>
          <p:cNvPr id="21" name="Shape 6"/>
          <p:cNvSpPr/>
          <p:nvPr/>
        </p:nvSpPr>
        <p:spPr>
          <a:xfrm>
            <a:off x="10309726" y="3991314"/>
            <a:ext cx="701066" cy="675323"/>
          </a:xfrm>
          <a:prstGeom prst="roundRect">
            <a:avLst>
              <a:gd name="adj" fmla="val 20001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22" name="Text 7"/>
          <p:cNvSpPr/>
          <p:nvPr/>
        </p:nvSpPr>
        <p:spPr>
          <a:xfrm>
            <a:off x="10538412" y="4109444"/>
            <a:ext cx="243694" cy="56276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02"/>
              </a:lnSpc>
              <a:buNone/>
            </a:pPr>
            <a:r>
              <a:rPr lang="ru-RU" sz="2321" dirty="0">
                <a:solidFill>
                  <a:srgbClr val="404155"/>
                </a:solidFill>
                <a:ea typeface="Corben" pitchFamily="34" charset="-122"/>
              </a:rPr>
              <a:t>3</a:t>
            </a:r>
            <a:endParaRPr lang="en-US" sz="232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826073" y="559316"/>
            <a:ext cx="12831870" cy="30837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>
              <a:defRPr/>
            </a:pPr>
            <a:r>
              <a:rPr lang="ru-RU" sz="3200" b="1" u="sng" dirty="0" smtClean="0">
                <a:latin typeface="Corben"/>
              </a:rPr>
              <a:t>Гипотеза</a:t>
            </a:r>
            <a:r>
              <a:rPr lang="en-US" sz="3200" b="1" u="sng" dirty="0" smtClean="0">
                <a:latin typeface="Corben"/>
              </a:rPr>
              <a:t>: </a:t>
            </a:r>
            <a:r>
              <a:rPr lang="ru-RU" sz="3200" dirty="0">
                <a:latin typeface="Corben"/>
                <a:ea typeface="Calibri" panose="020F0502020204030204" pitchFamily="34" charset="0"/>
                <a:cs typeface="Times New Roman" panose="02020603050405020304" pitchFamily="18" charset="0"/>
              </a:rPr>
              <a:t>если </a:t>
            </a:r>
            <a:r>
              <a:rPr lang="ru-RU" sz="3200" dirty="0">
                <a:solidFill>
                  <a:srgbClr val="1F1F24"/>
                </a:solidFill>
                <a:latin typeface="Corben"/>
                <a:ea typeface="Calibri" panose="020F0502020204030204" pitchFamily="34" charset="0"/>
                <a:cs typeface="Times New Roman" panose="02020603050405020304" pitchFamily="18" charset="0"/>
              </a:rPr>
              <a:t>организовать систему бронирования и онлайн оплату услуг</a:t>
            </a:r>
            <a:r>
              <a:rPr lang="ru-RU" sz="3200" dirty="0">
                <a:latin typeface="Corben"/>
                <a:ea typeface="Calibri" panose="020F0502020204030204" pitchFamily="34" charset="0"/>
                <a:cs typeface="Times New Roman" panose="02020603050405020304" pitchFamily="18" charset="0"/>
              </a:rPr>
              <a:t>, то это поможет менеджеру и специалисту в контроле посещаемости и продаж, предоставит удобную платформу для оперативного мониторинга.</a:t>
            </a:r>
          </a:p>
        </p:txBody>
      </p:sp>
      <p:pic>
        <p:nvPicPr>
          <p:cNvPr id="24" name="Picture 9" descr="http://vgae.ru/uploads/posts/2019-11/1574239834_img_881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40" r="23225" b="2776"/>
          <a:stretch>
            <a:fillRect/>
          </a:stretch>
        </p:blipFill>
        <p:spPr bwMode="auto">
          <a:xfrm>
            <a:off x="675684" y="3170277"/>
            <a:ext cx="6523036" cy="4883517"/>
          </a:xfrm>
          <a:prstGeom prst="rect">
            <a:avLst/>
          </a:prstGeom>
          <a:noFill/>
          <a:ln>
            <a:noFill/>
          </a:ln>
          <a:effectLst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" descr="https://imgcdn.yicai.com/uppics/slides/2019/07/b291795e17c62ad038dccca8756362ff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15"/>
          <a:stretch/>
        </p:blipFill>
        <p:spPr bwMode="auto">
          <a:xfrm>
            <a:off x="7329338" y="3197582"/>
            <a:ext cx="7154678" cy="4091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229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423295" y="523369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ru-RU" sz="4374" dirty="0" smtClean="0">
                <a:solidFill>
                  <a:srgbClr val="1B1B27"/>
                </a:solidFill>
                <a:ea typeface="Corben" pitchFamily="34" charset="-122"/>
              </a:rPr>
              <a:t>Цели и задачи</a:t>
            </a:r>
            <a:endParaRPr lang="en-US" sz="4374" dirty="0"/>
          </a:p>
        </p:txBody>
      </p:sp>
      <p:sp>
        <p:nvSpPr>
          <p:cNvPr id="6" name="Shape 2"/>
          <p:cNvSpPr/>
          <p:nvPr/>
        </p:nvSpPr>
        <p:spPr>
          <a:xfrm>
            <a:off x="511630" y="1469991"/>
            <a:ext cx="3754081" cy="6556941"/>
          </a:xfrm>
          <a:prstGeom prst="roundRect">
            <a:avLst>
              <a:gd name="adj" fmla="val 498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62990" y="1736491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ru-RU" sz="2800" dirty="0" smtClean="0">
                <a:solidFill>
                  <a:srgbClr val="404155"/>
                </a:solidFill>
                <a:ea typeface="Corben" pitchFamily="34" charset="-122"/>
              </a:rPr>
              <a:t>Цель</a:t>
            </a:r>
            <a:r>
              <a:rPr lang="en-US" sz="2400" dirty="0" smtClean="0">
                <a:solidFill>
                  <a:srgbClr val="404155"/>
                </a:solidFill>
                <a:ea typeface="Corben" pitchFamily="34" charset="-122"/>
              </a:rPr>
              <a:t>: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4798341" y="1469990"/>
            <a:ext cx="5692464" cy="6556942"/>
          </a:xfrm>
          <a:prstGeom prst="roundRect">
            <a:avLst>
              <a:gd name="adj" fmla="val 498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196642" y="1736491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ru-RU" sz="2800" dirty="0" smtClean="0">
                <a:ea typeface="Corben"/>
              </a:rPr>
              <a:t>Задачи</a:t>
            </a:r>
            <a:r>
              <a:rPr lang="en-US" sz="2800" dirty="0" smtClean="0">
                <a:ea typeface="Corben"/>
              </a:rPr>
              <a:t>:</a:t>
            </a:r>
            <a:endParaRPr lang="en-US" sz="2800" dirty="0">
              <a:ea typeface="Corben"/>
            </a:endParaRPr>
          </a:p>
        </p:txBody>
      </p:sp>
      <p:sp>
        <p:nvSpPr>
          <p:cNvPr id="14" name="Text 2"/>
          <p:cNvSpPr/>
          <p:nvPr/>
        </p:nvSpPr>
        <p:spPr>
          <a:xfrm>
            <a:off x="756746" y="2332501"/>
            <a:ext cx="3326524" cy="50457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734"/>
              </a:lnSpc>
            </a:pPr>
            <a:r>
              <a:rPr lang="ru-RU" sz="2400" dirty="0" smtClean="0">
                <a:solidFill>
                  <a:srgbClr val="000000"/>
                </a:solidFill>
                <a:ea typeface="Corben"/>
                <a:cs typeface="Times New Roman" panose="02020603050405020304" pitchFamily="18" charset="0"/>
              </a:rPr>
              <a:t>создание </a:t>
            </a:r>
            <a:r>
              <a:rPr lang="ru-RU" sz="2400" dirty="0">
                <a:ea typeface="Corben"/>
                <a:cs typeface="Times New Roman" panose="02020603050405020304" pitchFamily="18" charset="0"/>
              </a:rPr>
              <a:t>приложения</a:t>
            </a:r>
            <a:r>
              <a:rPr lang="ru-RU" sz="2400" dirty="0">
                <a:solidFill>
                  <a:srgbClr val="000000"/>
                </a:solidFill>
                <a:ea typeface="Corben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listo MT" panose="02040603050505030304" pitchFamily="18" charset="0"/>
                <a:ea typeface="Corben"/>
                <a:cs typeface="Times New Roman" panose="02020603050405020304" pitchFamily="18" charset="0"/>
              </a:rPr>
              <a:t>c</a:t>
            </a:r>
            <a:r>
              <a:rPr lang="ru-RU" sz="2400" dirty="0">
                <a:solidFill>
                  <a:srgbClr val="000000"/>
                </a:solidFill>
                <a:ea typeface="Corben"/>
                <a:cs typeface="Times New Roman" panose="02020603050405020304" pitchFamily="18" charset="0"/>
              </a:rPr>
              <a:t> графическим интерфейсом на языке программирования </a:t>
            </a:r>
            <a:r>
              <a:rPr lang="en-US" sz="2400" dirty="0">
                <a:solidFill>
                  <a:srgbClr val="000000"/>
                </a:solidFill>
                <a:latin typeface="Calisto MT" panose="02040603050505030304" pitchFamily="18" charset="0"/>
                <a:ea typeface="Corben"/>
                <a:cs typeface="Times New Roman" panose="02020603050405020304" pitchFamily="18" charset="0"/>
              </a:rPr>
              <a:t>Python</a:t>
            </a:r>
            <a:r>
              <a:rPr lang="ru-RU" sz="2400" dirty="0">
                <a:solidFill>
                  <a:srgbClr val="000000"/>
                </a:solidFill>
                <a:ea typeface="Corben"/>
                <a:cs typeface="Times New Roman" panose="02020603050405020304" pitchFamily="18" charset="0"/>
              </a:rPr>
              <a:t>, с помощью которого пользователи могли купить билет в тот или иной зал спортивного комплекса ФОК «Горняк».</a:t>
            </a:r>
            <a:endParaRPr lang="en-US" sz="2400" dirty="0">
              <a:latin typeface="Calisto MT" panose="02040603050505030304" pitchFamily="18" charset="0"/>
              <a:ea typeface="Corben"/>
            </a:endParaRPr>
          </a:p>
          <a:p>
            <a:pPr marL="0" indent="0" algn="l">
              <a:lnSpc>
                <a:spcPts val="2734"/>
              </a:lnSpc>
              <a:buNone/>
            </a:pPr>
            <a:endParaRPr lang="en-US" sz="2187" dirty="0">
              <a:latin typeface="Calisto MT" panose="02040603050505030304" pitchFamily="18" charset="0"/>
              <a:ea typeface="Corben"/>
            </a:endParaRPr>
          </a:p>
        </p:txBody>
      </p:sp>
      <p:sp>
        <p:nvSpPr>
          <p:cNvPr id="15" name="Text 2"/>
          <p:cNvSpPr/>
          <p:nvPr/>
        </p:nvSpPr>
        <p:spPr>
          <a:xfrm>
            <a:off x="4798341" y="2093060"/>
            <a:ext cx="5629400" cy="5933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buFont typeface="Times New Roman" panose="02020603050405020304" pitchFamily="18" charset="0"/>
              <a:buChar char="-"/>
              <a:defRPr/>
            </a:pPr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изучить литературу по данной проблеме; </a:t>
            </a:r>
            <a:endParaRPr lang="ru-RU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Times New Roman" panose="02020603050405020304" pitchFamily="18" charset="0"/>
              <a:buChar char="-"/>
              <a:defRPr/>
            </a:pPr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рассмотреть и обобщить цифровые тренды в спортивной сфере; проанализировать системы бронирования в индустрии на российском рынке;</a:t>
            </a:r>
            <a:endParaRPr lang="ru-RU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Times New Roman" panose="02020603050405020304" pitchFamily="18" charset="0"/>
              <a:buChar char="-"/>
              <a:defRPr/>
            </a:pPr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определить модель бизнес-процесса; изучить программирование графического интерфейса на </a:t>
            </a:r>
            <a:r>
              <a:rPr lang="ru-RU" sz="2400" dirty="0" err="1"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Times New Roman" panose="02020603050405020304" pitchFamily="18" charset="0"/>
              <a:buChar char="-"/>
              <a:tabLst>
                <a:tab pos="488950" algn="l"/>
              </a:tabLst>
              <a:defRPr/>
            </a:pPr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спроектировать и заполнить базу данных, реализующую возможность брони билетов в спортивном комплексе с возможностью безналичной оплаты и предоставлением чека. </a:t>
            </a:r>
            <a:endParaRPr lang="ru-RU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734"/>
              </a:lnSpc>
              <a:buNone/>
            </a:pPr>
            <a:endParaRPr lang="en-US" sz="2187" dirty="0">
              <a:latin typeface="Calisto MT" panose="02040603050505030304" pitchFamily="18" charset="0"/>
              <a:ea typeface="Corben"/>
            </a:endParaRPr>
          </a:p>
        </p:txBody>
      </p:sp>
      <p:pic>
        <p:nvPicPr>
          <p:cNvPr id="17" name="Picture 2" descr="https://mida.ru/upload/iblock/5c3/6pfn5celqg64623i57yuit06ejmhlfmd.jpe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808"/>
          <a:stretch/>
        </p:blipFill>
        <p:spPr bwMode="auto">
          <a:xfrm>
            <a:off x="10629861" y="2944461"/>
            <a:ext cx="3890179" cy="343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9203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0700" y="402432"/>
            <a:ext cx="5912644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Объект исследования</a:t>
            </a:r>
            <a:endParaRPr lang="en-US" sz="4374" dirty="0"/>
          </a:p>
        </p:txBody>
      </p:sp>
      <p:pic>
        <p:nvPicPr>
          <p:cNvPr id="1028" name="Picture 4" descr="https://russia-dropshipping.ru/800/600/https/majorsky.ru/assets/img/portfolio/app1.jpg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106" y="962044"/>
            <a:ext cx="11947487" cy="7976370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sp>
        <p:nvSpPr>
          <p:cNvPr id="50" name="Text 2"/>
          <p:cNvSpPr/>
          <p:nvPr/>
        </p:nvSpPr>
        <p:spPr>
          <a:xfrm>
            <a:off x="1082596" y="3215518"/>
            <a:ext cx="3073718" cy="17359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организация системы бронирования и онлайн оплаты услуг спортивного комплекса</a:t>
            </a:r>
            <a:endParaRPr lang="en-US" sz="2187" dirty="0"/>
          </a:p>
        </p:txBody>
      </p:sp>
      <p:sp>
        <p:nvSpPr>
          <p:cNvPr id="51" name="Text 3"/>
          <p:cNvSpPr/>
          <p:nvPr/>
        </p:nvSpPr>
        <p:spPr>
          <a:xfrm>
            <a:off x="5534033" y="3215518"/>
            <a:ext cx="3073837" cy="10415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программирование графического интерфейса на Python.</a:t>
            </a:r>
            <a:endParaRPr lang="en-US" sz="2187" dirty="0"/>
          </a:p>
        </p:txBody>
      </p:sp>
      <p:sp>
        <p:nvSpPr>
          <p:cNvPr id="52" name="Text 4"/>
          <p:cNvSpPr/>
          <p:nvPr/>
        </p:nvSpPr>
        <p:spPr>
          <a:xfrm>
            <a:off x="10245763" y="3211610"/>
            <a:ext cx="3073837" cy="2083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приложение c графическим интерфейсом на языке программирования Python.</a:t>
            </a:r>
            <a:endParaRPr lang="en-US" sz="2187" dirty="0"/>
          </a:p>
        </p:txBody>
      </p:sp>
      <p:sp>
        <p:nvSpPr>
          <p:cNvPr id="53" name="Полилиния 52"/>
          <p:cNvSpPr/>
          <p:nvPr/>
        </p:nvSpPr>
        <p:spPr>
          <a:xfrm>
            <a:off x="840700" y="1905831"/>
            <a:ext cx="3315614" cy="881357"/>
          </a:xfrm>
          <a:custGeom>
            <a:avLst/>
            <a:gdLst>
              <a:gd name="connsiteX0" fmla="*/ 325421 w 3315614"/>
              <a:gd name="connsiteY0" fmla="*/ 0 h 881357"/>
              <a:gd name="connsiteX1" fmla="*/ 2874936 w 3315614"/>
              <a:gd name="connsiteY1" fmla="*/ 0 h 881357"/>
              <a:gd name="connsiteX2" fmla="*/ 3315614 w 3315614"/>
              <a:gd name="connsiteY2" fmla="*/ 440678 h 881357"/>
              <a:gd name="connsiteX3" fmla="*/ 2874936 w 3315614"/>
              <a:gd name="connsiteY3" fmla="*/ 881356 h 881357"/>
              <a:gd name="connsiteX4" fmla="*/ 339567 w 3315614"/>
              <a:gd name="connsiteY4" fmla="*/ 881356 h 881357"/>
              <a:gd name="connsiteX5" fmla="*/ 339567 w 3315614"/>
              <a:gd name="connsiteY5" fmla="*/ 881357 h 881357"/>
              <a:gd name="connsiteX6" fmla="*/ 0 w 3315614"/>
              <a:gd name="connsiteY6" fmla="*/ 881357 h 881357"/>
              <a:gd name="connsiteX7" fmla="*/ 325421 w 3315614"/>
              <a:gd name="connsiteY7" fmla="*/ 448068 h 881357"/>
              <a:gd name="connsiteX8" fmla="*/ 325421 w 3315614"/>
              <a:gd name="connsiteY8" fmla="*/ 409436 h 881357"/>
              <a:gd name="connsiteX9" fmla="*/ 1618 w 3315614"/>
              <a:gd name="connsiteY9" fmla="*/ 2856 h 881357"/>
              <a:gd name="connsiteX10" fmla="*/ 325421 w 3315614"/>
              <a:gd name="connsiteY10" fmla="*/ 2856 h 881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5614" h="881357">
                <a:moveTo>
                  <a:pt x="325421" y="0"/>
                </a:moveTo>
                <a:lnTo>
                  <a:pt x="2874936" y="0"/>
                </a:lnTo>
                <a:lnTo>
                  <a:pt x="3315614" y="440678"/>
                </a:lnTo>
                <a:lnTo>
                  <a:pt x="2874936" y="881356"/>
                </a:lnTo>
                <a:lnTo>
                  <a:pt x="339567" y="881356"/>
                </a:lnTo>
                <a:lnTo>
                  <a:pt x="339567" y="881357"/>
                </a:lnTo>
                <a:lnTo>
                  <a:pt x="0" y="881357"/>
                </a:lnTo>
                <a:lnTo>
                  <a:pt x="325421" y="448068"/>
                </a:lnTo>
                <a:lnTo>
                  <a:pt x="325421" y="409436"/>
                </a:lnTo>
                <a:lnTo>
                  <a:pt x="1618" y="2856"/>
                </a:lnTo>
                <a:lnTo>
                  <a:pt x="325421" y="2856"/>
                </a:lnTo>
                <a:close/>
              </a:path>
            </a:pathLst>
          </a:custGeom>
          <a:solidFill>
            <a:srgbClr val="D2D9F9"/>
          </a:solidFill>
          <a:ln>
            <a:solidFill>
              <a:srgbClr val="C0C7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Полилиния 53"/>
          <p:cNvSpPr/>
          <p:nvPr/>
        </p:nvSpPr>
        <p:spPr>
          <a:xfrm>
            <a:off x="5534033" y="1905831"/>
            <a:ext cx="3315614" cy="881357"/>
          </a:xfrm>
          <a:custGeom>
            <a:avLst/>
            <a:gdLst>
              <a:gd name="connsiteX0" fmla="*/ 325421 w 3315614"/>
              <a:gd name="connsiteY0" fmla="*/ 0 h 881357"/>
              <a:gd name="connsiteX1" fmla="*/ 2874936 w 3315614"/>
              <a:gd name="connsiteY1" fmla="*/ 0 h 881357"/>
              <a:gd name="connsiteX2" fmla="*/ 3315614 w 3315614"/>
              <a:gd name="connsiteY2" fmla="*/ 440678 h 881357"/>
              <a:gd name="connsiteX3" fmla="*/ 2874936 w 3315614"/>
              <a:gd name="connsiteY3" fmla="*/ 881356 h 881357"/>
              <a:gd name="connsiteX4" fmla="*/ 339567 w 3315614"/>
              <a:gd name="connsiteY4" fmla="*/ 881356 h 881357"/>
              <a:gd name="connsiteX5" fmla="*/ 339567 w 3315614"/>
              <a:gd name="connsiteY5" fmla="*/ 881357 h 881357"/>
              <a:gd name="connsiteX6" fmla="*/ 0 w 3315614"/>
              <a:gd name="connsiteY6" fmla="*/ 881357 h 881357"/>
              <a:gd name="connsiteX7" fmla="*/ 325421 w 3315614"/>
              <a:gd name="connsiteY7" fmla="*/ 448068 h 881357"/>
              <a:gd name="connsiteX8" fmla="*/ 325421 w 3315614"/>
              <a:gd name="connsiteY8" fmla="*/ 409436 h 881357"/>
              <a:gd name="connsiteX9" fmla="*/ 1618 w 3315614"/>
              <a:gd name="connsiteY9" fmla="*/ 2856 h 881357"/>
              <a:gd name="connsiteX10" fmla="*/ 325421 w 3315614"/>
              <a:gd name="connsiteY10" fmla="*/ 2856 h 881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5614" h="881357">
                <a:moveTo>
                  <a:pt x="325421" y="0"/>
                </a:moveTo>
                <a:lnTo>
                  <a:pt x="2874936" y="0"/>
                </a:lnTo>
                <a:lnTo>
                  <a:pt x="3315614" y="440678"/>
                </a:lnTo>
                <a:lnTo>
                  <a:pt x="2874936" y="881356"/>
                </a:lnTo>
                <a:lnTo>
                  <a:pt x="339567" y="881356"/>
                </a:lnTo>
                <a:lnTo>
                  <a:pt x="339567" y="881357"/>
                </a:lnTo>
                <a:lnTo>
                  <a:pt x="0" y="881357"/>
                </a:lnTo>
                <a:lnTo>
                  <a:pt x="325421" y="448068"/>
                </a:lnTo>
                <a:lnTo>
                  <a:pt x="325421" y="409436"/>
                </a:lnTo>
                <a:lnTo>
                  <a:pt x="1618" y="2856"/>
                </a:lnTo>
                <a:lnTo>
                  <a:pt x="325421" y="2856"/>
                </a:lnTo>
                <a:close/>
              </a:path>
            </a:pathLst>
          </a:custGeom>
          <a:solidFill>
            <a:srgbClr val="D2D9F9"/>
          </a:solidFill>
          <a:ln>
            <a:solidFill>
              <a:srgbClr val="C0C7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Полилиния 54"/>
          <p:cNvSpPr/>
          <p:nvPr/>
        </p:nvSpPr>
        <p:spPr>
          <a:xfrm>
            <a:off x="10245763" y="1905865"/>
            <a:ext cx="3315614" cy="881357"/>
          </a:xfrm>
          <a:custGeom>
            <a:avLst/>
            <a:gdLst>
              <a:gd name="connsiteX0" fmla="*/ 325421 w 3315614"/>
              <a:gd name="connsiteY0" fmla="*/ 0 h 881357"/>
              <a:gd name="connsiteX1" fmla="*/ 2874936 w 3315614"/>
              <a:gd name="connsiteY1" fmla="*/ 0 h 881357"/>
              <a:gd name="connsiteX2" fmla="*/ 3315614 w 3315614"/>
              <a:gd name="connsiteY2" fmla="*/ 440678 h 881357"/>
              <a:gd name="connsiteX3" fmla="*/ 2874936 w 3315614"/>
              <a:gd name="connsiteY3" fmla="*/ 881356 h 881357"/>
              <a:gd name="connsiteX4" fmla="*/ 339567 w 3315614"/>
              <a:gd name="connsiteY4" fmla="*/ 881356 h 881357"/>
              <a:gd name="connsiteX5" fmla="*/ 339567 w 3315614"/>
              <a:gd name="connsiteY5" fmla="*/ 881357 h 881357"/>
              <a:gd name="connsiteX6" fmla="*/ 0 w 3315614"/>
              <a:gd name="connsiteY6" fmla="*/ 881357 h 881357"/>
              <a:gd name="connsiteX7" fmla="*/ 325421 w 3315614"/>
              <a:gd name="connsiteY7" fmla="*/ 448068 h 881357"/>
              <a:gd name="connsiteX8" fmla="*/ 325421 w 3315614"/>
              <a:gd name="connsiteY8" fmla="*/ 409436 h 881357"/>
              <a:gd name="connsiteX9" fmla="*/ 1618 w 3315614"/>
              <a:gd name="connsiteY9" fmla="*/ 2856 h 881357"/>
              <a:gd name="connsiteX10" fmla="*/ 325421 w 3315614"/>
              <a:gd name="connsiteY10" fmla="*/ 2856 h 881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5614" h="881357">
                <a:moveTo>
                  <a:pt x="325421" y="0"/>
                </a:moveTo>
                <a:lnTo>
                  <a:pt x="2874936" y="0"/>
                </a:lnTo>
                <a:lnTo>
                  <a:pt x="3315614" y="440678"/>
                </a:lnTo>
                <a:lnTo>
                  <a:pt x="2874936" y="881356"/>
                </a:lnTo>
                <a:lnTo>
                  <a:pt x="339567" y="881356"/>
                </a:lnTo>
                <a:lnTo>
                  <a:pt x="339567" y="881357"/>
                </a:lnTo>
                <a:lnTo>
                  <a:pt x="0" y="881357"/>
                </a:lnTo>
                <a:lnTo>
                  <a:pt x="325421" y="448068"/>
                </a:lnTo>
                <a:lnTo>
                  <a:pt x="325421" y="409436"/>
                </a:lnTo>
                <a:lnTo>
                  <a:pt x="1618" y="2856"/>
                </a:lnTo>
                <a:lnTo>
                  <a:pt x="325421" y="2856"/>
                </a:lnTo>
                <a:close/>
              </a:path>
            </a:pathLst>
          </a:custGeom>
          <a:solidFill>
            <a:srgbClr val="D2D9F9"/>
          </a:solidFill>
          <a:ln>
            <a:solidFill>
              <a:srgbClr val="C0C7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TextBox 55"/>
          <p:cNvSpPr txBox="1"/>
          <p:nvPr/>
        </p:nvSpPr>
        <p:spPr>
          <a:xfrm>
            <a:off x="1155238" y="1963327"/>
            <a:ext cx="2641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Corbel" panose="020B0503020204020204" pitchFamily="34" charset="0"/>
                <a:ea typeface="Corben"/>
              </a:rPr>
              <a:t>Объект исследования</a:t>
            </a:r>
            <a:endParaRPr lang="ru-RU" sz="2400" dirty="0">
              <a:latin typeface="Corbel" panose="020B0503020204020204" pitchFamily="34" charset="0"/>
              <a:ea typeface="Corben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880147" y="1905831"/>
            <a:ext cx="2641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Corbel" panose="020B0503020204020204" pitchFamily="34" charset="0"/>
                <a:ea typeface="Corben"/>
              </a:rPr>
              <a:t>Предмет</a:t>
            </a:r>
            <a:br>
              <a:rPr lang="ru-RU" sz="2400" dirty="0" smtClean="0">
                <a:latin typeface="Corbel" panose="020B0503020204020204" pitchFamily="34" charset="0"/>
                <a:ea typeface="Corben"/>
              </a:rPr>
            </a:br>
            <a:r>
              <a:rPr lang="ru-RU" sz="2400" dirty="0" smtClean="0">
                <a:latin typeface="Corbel" panose="020B0503020204020204" pitchFamily="34" charset="0"/>
                <a:ea typeface="Corben"/>
              </a:rPr>
              <a:t>исследования</a:t>
            </a:r>
            <a:endParaRPr lang="ru-RU" sz="2400" dirty="0">
              <a:latin typeface="Corbel" panose="020B0503020204020204" pitchFamily="34" charset="0"/>
              <a:ea typeface="Corben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582678" y="1905865"/>
            <a:ext cx="2641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Corbel" panose="020B0503020204020204" pitchFamily="34" charset="0"/>
                <a:ea typeface="Corben"/>
              </a:rPr>
              <a:t>Конечный продукт</a:t>
            </a:r>
            <a:endParaRPr lang="ru-RU" sz="2400" dirty="0">
              <a:latin typeface="Corbel" panose="020B0503020204020204" pitchFamily="34" charset="0"/>
              <a:ea typeface="Corbe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123009" y="612785"/>
            <a:ext cx="7090529" cy="61972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880"/>
              </a:lnSpc>
              <a:buNone/>
            </a:pPr>
            <a:r>
              <a:rPr lang="en-US" sz="3904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Современный человек хочет:</a:t>
            </a:r>
            <a:endParaRPr lang="en-US" sz="3904" dirty="0"/>
          </a:p>
        </p:txBody>
      </p:sp>
      <p:sp>
        <p:nvSpPr>
          <p:cNvPr id="5" name="Shape 2"/>
          <p:cNvSpPr/>
          <p:nvPr/>
        </p:nvSpPr>
        <p:spPr>
          <a:xfrm>
            <a:off x="1605609" y="1563291"/>
            <a:ext cx="39648" cy="3134916"/>
          </a:xfrm>
          <a:prstGeom prst="roundRect">
            <a:avLst>
              <a:gd name="adj" fmla="val 225098"/>
            </a:avLst>
          </a:prstGeom>
          <a:solidFill>
            <a:srgbClr val="B8BFDF"/>
          </a:solidFill>
          <a:ln/>
        </p:spPr>
      </p:sp>
      <p:sp>
        <p:nvSpPr>
          <p:cNvPr id="6" name="Shape 3"/>
          <p:cNvSpPr/>
          <p:nvPr/>
        </p:nvSpPr>
        <p:spPr>
          <a:xfrm>
            <a:off x="1848437" y="1921371"/>
            <a:ext cx="694134" cy="39648"/>
          </a:xfrm>
          <a:prstGeom prst="roundRect">
            <a:avLst>
              <a:gd name="adj" fmla="val 225098"/>
            </a:avLst>
          </a:prstGeom>
          <a:solidFill>
            <a:srgbClr val="B8BFDF"/>
          </a:solidFill>
          <a:ln/>
        </p:spPr>
      </p:sp>
      <p:sp>
        <p:nvSpPr>
          <p:cNvPr id="7" name="Shape 4"/>
          <p:cNvSpPr/>
          <p:nvPr/>
        </p:nvSpPr>
        <p:spPr>
          <a:xfrm>
            <a:off x="1402310" y="1718191"/>
            <a:ext cx="446127" cy="446127"/>
          </a:xfrm>
          <a:prstGeom prst="roundRect">
            <a:avLst>
              <a:gd name="adj" fmla="val 20005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52352" y="1755338"/>
            <a:ext cx="87868" cy="37183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28"/>
              </a:lnSpc>
              <a:buNone/>
            </a:pPr>
            <a:r>
              <a:rPr lang="en-US" sz="2342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2342" dirty="0"/>
          </a:p>
        </p:txBody>
      </p:sp>
      <p:sp>
        <p:nvSpPr>
          <p:cNvPr id="9" name="Text 6"/>
          <p:cNvSpPr/>
          <p:nvPr/>
        </p:nvSpPr>
        <p:spPr>
          <a:xfrm>
            <a:off x="2716105" y="1761530"/>
            <a:ext cx="5554504" cy="6196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40"/>
              </a:lnSpc>
              <a:buNone/>
            </a:pPr>
            <a:r>
              <a:rPr lang="en-US" sz="1952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экономить время на поиске товаров и услуг,
продавать свои услуги, знания и компетенции</a:t>
            </a:r>
            <a:endParaRPr lang="en-US" sz="1952" dirty="0"/>
          </a:p>
        </p:txBody>
      </p:sp>
      <p:sp>
        <p:nvSpPr>
          <p:cNvPr id="10" name="Shape 7"/>
          <p:cNvSpPr/>
          <p:nvPr/>
        </p:nvSpPr>
        <p:spPr>
          <a:xfrm>
            <a:off x="1848437" y="3135690"/>
            <a:ext cx="694134" cy="39648"/>
          </a:xfrm>
          <a:prstGeom prst="roundRect">
            <a:avLst>
              <a:gd name="adj" fmla="val 225098"/>
            </a:avLst>
          </a:prstGeom>
          <a:solidFill>
            <a:srgbClr val="B8BFDF"/>
          </a:solidFill>
          <a:ln/>
        </p:spPr>
      </p:sp>
      <p:sp>
        <p:nvSpPr>
          <p:cNvPr id="11" name="Shape 8"/>
          <p:cNvSpPr/>
          <p:nvPr/>
        </p:nvSpPr>
        <p:spPr>
          <a:xfrm>
            <a:off x="1402310" y="2932509"/>
            <a:ext cx="446127" cy="446127"/>
          </a:xfrm>
          <a:prstGeom prst="roundRect">
            <a:avLst>
              <a:gd name="adj" fmla="val 20005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47804" y="2928674"/>
            <a:ext cx="155138" cy="37183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28"/>
              </a:lnSpc>
              <a:buNone/>
            </a:pPr>
            <a:r>
              <a:rPr lang="en-US" sz="2342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2342" dirty="0"/>
          </a:p>
        </p:txBody>
      </p:sp>
      <p:sp>
        <p:nvSpPr>
          <p:cNvPr id="13" name="Text 10"/>
          <p:cNvSpPr/>
          <p:nvPr/>
        </p:nvSpPr>
        <p:spPr>
          <a:xfrm>
            <a:off x="2716105" y="2934865"/>
            <a:ext cx="6026348" cy="6196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40"/>
              </a:lnSpc>
              <a:buNone/>
            </a:pPr>
            <a:r>
              <a:rPr lang="en-US" sz="1952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выбирать лучшие услуги, сервисы и товары,
делиться опытом и мнением о получаемых благах</a:t>
            </a:r>
            <a:endParaRPr lang="en-US" sz="1952" dirty="0"/>
          </a:p>
        </p:txBody>
      </p:sp>
      <p:sp>
        <p:nvSpPr>
          <p:cNvPr id="14" name="Shape 11"/>
          <p:cNvSpPr/>
          <p:nvPr/>
        </p:nvSpPr>
        <p:spPr>
          <a:xfrm>
            <a:off x="1848437" y="4350008"/>
            <a:ext cx="694134" cy="39648"/>
          </a:xfrm>
          <a:prstGeom prst="roundRect">
            <a:avLst>
              <a:gd name="adj" fmla="val 225098"/>
            </a:avLst>
          </a:prstGeom>
          <a:solidFill>
            <a:srgbClr val="B8BFDF"/>
          </a:solidFill>
          <a:ln/>
        </p:spPr>
      </p:sp>
      <p:sp>
        <p:nvSpPr>
          <p:cNvPr id="15" name="Shape 12"/>
          <p:cNvSpPr/>
          <p:nvPr/>
        </p:nvSpPr>
        <p:spPr>
          <a:xfrm>
            <a:off x="1402310" y="4146828"/>
            <a:ext cx="446127" cy="446127"/>
          </a:xfrm>
          <a:prstGeom prst="roundRect">
            <a:avLst>
              <a:gd name="adj" fmla="val 20005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541851" y="4142992"/>
            <a:ext cx="167045" cy="37183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28"/>
              </a:lnSpc>
              <a:buNone/>
            </a:pPr>
            <a:r>
              <a:rPr lang="en-US" sz="2342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2342" dirty="0"/>
          </a:p>
        </p:txBody>
      </p:sp>
      <p:sp>
        <p:nvSpPr>
          <p:cNvPr id="17" name="Text 14"/>
          <p:cNvSpPr/>
          <p:nvPr/>
        </p:nvSpPr>
        <p:spPr>
          <a:xfrm>
            <a:off x="2716105" y="4169389"/>
            <a:ext cx="5283279" cy="30980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40"/>
              </a:lnSpc>
              <a:buNone/>
            </a:pPr>
            <a:r>
              <a:rPr lang="en-US" sz="1952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получать актуальные услуги там, где удобно</a:t>
            </a:r>
            <a:endParaRPr lang="en-US" sz="1952" dirty="0"/>
          </a:p>
        </p:txBody>
      </p:sp>
      <p:sp>
        <p:nvSpPr>
          <p:cNvPr id="18" name="Text 15"/>
          <p:cNvSpPr/>
          <p:nvPr/>
        </p:nvSpPr>
        <p:spPr>
          <a:xfrm>
            <a:off x="1123009" y="4981306"/>
            <a:ext cx="9420463" cy="3173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99"/>
              </a:lnSpc>
              <a:buNone/>
            </a:pPr>
            <a:r>
              <a:rPr lang="en-US" sz="2800" dirty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Основные направления развития решений систем бронирования:</a:t>
            </a:r>
            <a:endParaRPr lang="en-US" sz="2800" dirty="0">
              <a:latin typeface="Corben"/>
              <a:ea typeface="Corben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712554" y="5461516"/>
            <a:ext cx="9420463" cy="22211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99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Индивидуальная разработка;
Использование готового сервиса онлайн - Roboseller;
Реестр сервисов от Минспорта (по состоянию на ноябрь 2020 года):
FindSport ;
Go2Sport ;
E-Champs;
S10.run.</a:t>
            </a:r>
            <a:endParaRPr lang="en-US" sz="1950" dirty="0"/>
          </a:p>
        </p:txBody>
      </p:sp>
      <p:pic>
        <p:nvPicPr>
          <p:cNvPr id="21" name="Picture 2" descr="https://avigroup.pro/wp-content/uploads/2021/05/121-min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8" t="5943" r="3403" b="15308"/>
          <a:stretch>
            <a:fillRect/>
          </a:stretch>
        </p:blipFill>
        <p:spPr bwMode="auto">
          <a:xfrm>
            <a:off x="9813301" y="1680656"/>
            <a:ext cx="3912365" cy="2643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170890" y="444222"/>
            <a:ext cx="10554414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Организационная структура предприятия</a:t>
            </a:r>
            <a:endParaRPr lang="en-US" sz="4374" dirty="0"/>
          </a:p>
        </p:txBody>
      </p:sp>
      <p:sp>
        <p:nvSpPr>
          <p:cNvPr id="5" name="Text 2"/>
          <p:cNvSpPr/>
          <p:nvPr/>
        </p:nvSpPr>
        <p:spPr>
          <a:xfrm>
            <a:off x="2037993" y="3945612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2037993" y="4550926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2037993" y="5156240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2037993" y="5761553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pic>
        <p:nvPicPr>
          <p:cNvPr id="10" name="Picture 2" descr="1-Страница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069" y="2451943"/>
            <a:ext cx="12171476" cy="4908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27481" y="582826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ru-RU" sz="4374" dirty="0" smtClean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Реализация</a:t>
            </a:r>
            <a:endParaRPr lang="en-US" sz="4374" dirty="0"/>
          </a:p>
        </p:txBody>
      </p:sp>
      <p:pic>
        <p:nvPicPr>
          <p:cNvPr id="7" name="Рисунок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860" y="772708"/>
            <a:ext cx="8057824" cy="714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4"/>
          <p:cNvSpPr/>
          <p:nvPr/>
        </p:nvSpPr>
        <p:spPr>
          <a:xfrm>
            <a:off x="969531" y="6023292"/>
            <a:ext cx="4082534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8" name="Прямоугольник с двумя усеченными соседними углами 17"/>
          <p:cNvSpPr/>
          <p:nvPr/>
        </p:nvSpPr>
        <p:spPr>
          <a:xfrm>
            <a:off x="735134" y="1599597"/>
            <a:ext cx="4551325" cy="1130954"/>
          </a:xfrm>
          <a:prstGeom prst="snip2SameRect">
            <a:avLst/>
          </a:prstGeom>
          <a:solidFill>
            <a:srgbClr val="D2D9F9"/>
          </a:solidFill>
          <a:ln>
            <a:solidFill>
              <a:srgbClr val="C0C7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4"/>
          <p:cNvSpPr txBox="1">
            <a:spLocks noChangeArrowheads="1"/>
          </p:cNvSpPr>
          <p:nvPr/>
        </p:nvSpPr>
        <p:spPr bwMode="auto">
          <a:xfrm>
            <a:off x="786622" y="1596609"/>
            <a:ext cx="444835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400" dirty="0">
                <a:ea typeface="Corben"/>
              </a:rPr>
              <a:t>Используемый стек технологий: </a:t>
            </a:r>
            <a:r>
              <a:rPr lang="en-US" altLang="ru-RU" sz="2400" dirty="0">
                <a:latin typeface="Corben"/>
                <a:ea typeface="Corben"/>
              </a:rPr>
              <a:t>Python</a:t>
            </a:r>
            <a:r>
              <a:rPr lang="ru-RU" altLang="ru-RU" sz="2400" dirty="0">
                <a:ea typeface="Corben"/>
              </a:rPr>
              <a:t>, </a:t>
            </a:r>
            <a:r>
              <a:rPr lang="en-US" altLang="ru-RU" sz="2400" dirty="0" err="1">
                <a:latin typeface="Corben"/>
                <a:ea typeface="Corben"/>
              </a:rPr>
              <a:t>PyQt</a:t>
            </a:r>
            <a:r>
              <a:rPr lang="ru-RU" altLang="ru-RU" sz="2400" dirty="0">
                <a:ea typeface="Corben"/>
              </a:rPr>
              <a:t>, </a:t>
            </a:r>
            <a:r>
              <a:rPr lang="en-US" altLang="ru-RU" sz="2400" dirty="0">
                <a:latin typeface="Corben"/>
                <a:ea typeface="Corben"/>
              </a:rPr>
              <a:t>SQL</a:t>
            </a:r>
            <a:r>
              <a:rPr lang="ru-RU" altLang="ru-RU" sz="2400" dirty="0">
                <a:ea typeface="Corben"/>
              </a:rPr>
              <a:t>.</a:t>
            </a:r>
          </a:p>
        </p:txBody>
      </p:sp>
      <p:sp>
        <p:nvSpPr>
          <p:cNvPr id="26" name="Прямоугольник с двумя усеченными соседними углами 25"/>
          <p:cNvSpPr/>
          <p:nvPr/>
        </p:nvSpPr>
        <p:spPr>
          <a:xfrm>
            <a:off x="735132" y="3338250"/>
            <a:ext cx="4551326" cy="1621003"/>
          </a:xfrm>
          <a:prstGeom prst="flowChartAlternateProcess">
            <a:avLst/>
          </a:prstGeom>
          <a:solidFill>
            <a:srgbClr val="D2D9F9"/>
          </a:solidFill>
          <a:ln>
            <a:solidFill>
              <a:srgbClr val="C0C7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с двумя усеченными соседними углами 25"/>
          <p:cNvSpPr/>
          <p:nvPr/>
        </p:nvSpPr>
        <p:spPr>
          <a:xfrm>
            <a:off x="735132" y="5054390"/>
            <a:ext cx="4552144" cy="1103168"/>
          </a:xfrm>
          <a:prstGeom prst="flowChartAlternateProcess">
            <a:avLst/>
          </a:prstGeom>
          <a:solidFill>
            <a:srgbClr val="D2D9F9"/>
          </a:solidFill>
          <a:ln>
            <a:solidFill>
              <a:srgbClr val="C0C7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с двумя усеченными соседними углами 25"/>
          <p:cNvSpPr/>
          <p:nvPr/>
        </p:nvSpPr>
        <p:spPr>
          <a:xfrm>
            <a:off x="735132" y="6267917"/>
            <a:ext cx="4551326" cy="1173357"/>
          </a:xfrm>
          <a:prstGeom prst="flowChartAlternateProcess">
            <a:avLst/>
          </a:prstGeom>
          <a:solidFill>
            <a:srgbClr val="D2D9F9"/>
          </a:solidFill>
          <a:ln>
            <a:solidFill>
              <a:srgbClr val="C0C7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 2"/>
          <p:cNvSpPr/>
          <p:nvPr/>
        </p:nvSpPr>
        <p:spPr>
          <a:xfrm>
            <a:off x="951169" y="3446727"/>
            <a:ext cx="4222985" cy="43184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None/>
            </a:pPr>
            <a:r>
              <a:rPr lang="ru-RU" altLang="ru-RU" sz="2000" dirty="0" err="1">
                <a:latin typeface="Corbel" panose="020B0503020204020204" pitchFamily="34" charset="0"/>
                <a:ea typeface="Corben"/>
              </a:rPr>
              <a:t>PyQt</a:t>
            </a:r>
            <a:r>
              <a:rPr lang="ru-RU" altLang="ru-RU" sz="2000" dirty="0">
                <a:latin typeface="Corbel" panose="020B0503020204020204" pitchFamily="34" charset="0"/>
                <a:ea typeface="Corben"/>
              </a:rPr>
              <a:t> — это библиотека </a:t>
            </a:r>
            <a:r>
              <a:rPr lang="ru-RU" altLang="ru-RU" sz="2000" dirty="0" err="1">
                <a:latin typeface="Corbel" panose="020B0503020204020204" pitchFamily="34" charset="0"/>
                <a:ea typeface="Corben"/>
              </a:rPr>
              <a:t>Python</a:t>
            </a:r>
            <a:r>
              <a:rPr lang="ru-RU" altLang="ru-RU" sz="2000" dirty="0">
                <a:latin typeface="Corbel" panose="020B0503020204020204" pitchFamily="34" charset="0"/>
                <a:ea typeface="Corben"/>
              </a:rPr>
              <a:t> для создания приложений с графическим интерфейсом с помощью инструментария </a:t>
            </a:r>
            <a:r>
              <a:rPr lang="ru-RU" altLang="ru-RU" sz="2000" dirty="0" err="1">
                <a:latin typeface="Corbel" panose="020B0503020204020204" pitchFamily="34" charset="0"/>
                <a:ea typeface="Corben"/>
              </a:rPr>
              <a:t>Qt</a:t>
            </a:r>
            <a:r>
              <a:rPr lang="ru-RU" altLang="ru-RU" sz="2000" dirty="0">
                <a:latin typeface="Corbel" panose="020B0503020204020204" pitchFamily="34" charset="0"/>
                <a:ea typeface="Corben"/>
              </a:rPr>
              <a:t>.</a:t>
            </a:r>
          </a:p>
          <a:p>
            <a:pPr>
              <a:buNone/>
            </a:pPr>
            <a:endParaRPr lang="ru-RU" altLang="ru-RU" sz="2000" dirty="0" smtClean="0">
              <a:latin typeface="Corbel" panose="020B0503020204020204" pitchFamily="34" charset="0"/>
              <a:ea typeface="Corben"/>
            </a:endParaRPr>
          </a:p>
          <a:p>
            <a:pPr>
              <a:buNone/>
            </a:pPr>
            <a:endParaRPr lang="ru-RU" altLang="ru-RU" sz="2000" dirty="0">
              <a:latin typeface="Corbel" panose="020B0503020204020204" pitchFamily="34" charset="0"/>
              <a:ea typeface="Corben"/>
            </a:endParaRPr>
          </a:p>
          <a:p>
            <a:pPr>
              <a:buNone/>
            </a:pPr>
            <a:r>
              <a:rPr lang="ru-RU" altLang="ru-RU" sz="2000" dirty="0">
                <a:latin typeface="Corbel" panose="020B0503020204020204" pitchFamily="34" charset="0"/>
                <a:ea typeface="Corben"/>
              </a:rPr>
              <a:t>Для создания макета использовался </a:t>
            </a:r>
            <a:r>
              <a:rPr lang="ru-RU" altLang="ru-RU" sz="2000" dirty="0" err="1">
                <a:latin typeface="Corbel" panose="020B0503020204020204" pitchFamily="34" charset="0"/>
                <a:ea typeface="Corben"/>
              </a:rPr>
              <a:t>QtDesigner</a:t>
            </a:r>
            <a:r>
              <a:rPr lang="ru-RU" altLang="ru-RU" sz="2000" dirty="0">
                <a:latin typeface="Corbel" panose="020B0503020204020204" pitchFamily="34" charset="0"/>
                <a:ea typeface="Corben"/>
              </a:rPr>
              <a:t>.</a:t>
            </a:r>
          </a:p>
          <a:p>
            <a:pPr>
              <a:buNone/>
            </a:pPr>
            <a:endParaRPr lang="ru-RU" altLang="ru-RU" sz="2000" dirty="0" smtClean="0">
              <a:latin typeface="Corbel" panose="020B0503020204020204" pitchFamily="34" charset="0"/>
              <a:ea typeface="Corben"/>
            </a:endParaRPr>
          </a:p>
          <a:p>
            <a:pPr>
              <a:buNone/>
            </a:pPr>
            <a:endParaRPr lang="ru-RU" altLang="ru-RU" sz="2000" dirty="0">
              <a:latin typeface="Corbel" panose="020B0503020204020204" pitchFamily="34" charset="0"/>
              <a:ea typeface="Corben"/>
            </a:endParaRPr>
          </a:p>
          <a:p>
            <a:pPr>
              <a:buNone/>
            </a:pPr>
            <a:r>
              <a:rPr lang="ru-RU" altLang="ru-RU" sz="2000" dirty="0">
                <a:latin typeface="Corbel" panose="020B0503020204020204" pitchFamily="34" charset="0"/>
                <a:ea typeface="Corben"/>
              </a:rPr>
              <a:t>Для работы с базами данных был использован язык SQL</a:t>
            </a:r>
          </a:p>
          <a:p>
            <a:endParaRPr lang="ru-RU" sz="2000" dirty="0">
              <a:latin typeface="Corbel" panose="020B0503020204020204" pitchFamily="34" charset="0"/>
              <a:ea typeface="Corben"/>
            </a:endParaRPr>
          </a:p>
        </p:txBody>
      </p:sp>
      <p:sp>
        <p:nvSpPr>
          <p:cNvPr id="32" name="Управляющая кнопка: в конец 31">
            <a:hlinkClick r:id="rId5" action="ppaction://hlinksldjump" highlightClick="1"/>
          </p:cNvPr>
          <p:cNvSpPr/>
          <p:nvPr/>
        </p:nvSpPr>
        <p:spPr>
          <a:xfrm>
            <a:off x="5467664" y="7653847"/>
            <a:ext cx="532505" cy="531371"/>
          </a:xfrm>
          <a:prstGeom prst="actionButtonEnd">
            <a:avLst/>
          </a:prstGeom>
          <a:solidFill>
            <a:srgbClr val="D2D9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27481" y="425521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ru-RU" sz="4374" b="1" dirty="0" smtClean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Реализация</a:t>
            </a:r>
            <a:endParaRPr lang="en-US" sz="4374" b="1" dirty="0"/>
          </a:p>
        </p:txBody>
      </p:sp>
      <p:sp>
        <p:nvSpPr>
          <p:cNvPr id="13" name="Text 4"/>
          <p:cNvSpPr/>
          <p:nvPr/>
        </p:nvSpPr>
        <p:spPr>
          <a:xfrm>
            <a:off x="969531" y="6023292"/>
            <a:ext cx="4082534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pic>
        <p:nvPicPr>
          <p:cNvPr id="12" name="Рисунок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860" y="772708"/>
            <a:ext cx="8203641" cy="711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2"/>
          <p:cNvSpPr/>
          <p:nvPr/>
        </p:nvSpPr>
        <p:spPr>
          <a:xfrm>
            <a:off x="1034032" y="2723942"/>
            <a:ext cx="4222985" cy="43184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None/>
            </a:pPr>
            <a:r>
              <a:rPr lang="ru-RU" altLang="ru-RU" sz="2400" dirty="0" smtClean="0">
                <a:latin typeface="Corbel" panose="020B0503020204020204" pitchFamily="34" charset="0"/>
                <a:ea typeface="Corben"/>
              </a:rPr>
              <a:t>На данном слайде представлена одна страница ледовой арены с возможностью выбора даты, продолжительности, указание количества мест и цены</a:t>
            </a:r>
            <a:endParaRPr lang="ru-RU" altLang="ru-RU" sz="2400" dirty="0">
              <a:latin typeface="Corbel" panose="020B0503020204020204" pitchFamily="34" charset="0"/>
              <a:ea typeface="Corben"/>
            </a:endParaRPr>
          </a:p>
          <a:p>
            <a:endParaRPr lang="ru-RU" sz="2000" dirty="0">
              <a:latin typeface="Corbel" panose="020B0503020204020204" pitchFamily="34" charset="0"/>
              <a:ea typeface="Corben"/>
            </a:endParaRPr>
          </a:p>
        </p:txBody>
      </p:sp>
    </p:spTree>
    <p:extLst>
      <p:ext uri="{BB962C8B-B14F-4D97-AF65-F5344CB8AC3E}">
        <p14:creationId xmlns:p14="http://schemas.microsoft.com/office/powerpoint/2010/main" val="121990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4060" y="248984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ru-RU" sz="4374" dirty="0" smtClean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Реализация</a:t>
            </a:r>
            <a:endParaRPr lang="en-US" sz="4374" dirty="0"/>
          </a:p>
        </p:txBody>
      </p:sp>
      <p:sp>
        <p:nvSpPr>
          <p:cNvPr id="13" name="Text 4"/>
          <p:cNvSpPr/>
          <p:nvPr/>
        </p:nvSpPr>
        <p:spPr>
          <a:xfrm>
            <a:off x="969531" y="6023292"/>
            <a:ext cx="4082534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pic>
        <p:nvPicPr>
          <p:cNvPr id="8" name="Рисунок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022" y="1226586"/>
            <a:ext cx="6122932" cy="5940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Рисунок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2491" y="2142551"/>
            <a:ext cx="6122932" cy="593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6631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2037993" y="3937040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pic>
        <p:nvPicPr>
          <p:cNvPr id="6" name="Рисунок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6841" y="768741"/>
            <a:ext cx="4275795" cy="3645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Рисунок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370" y="2819401"/>
            <a:ext cx="8373542" cy="4989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1"/>
          <p:cNvSpPr/>
          <p:nvPr/>
        </p:nvSpPr>
        <p:spPr>
          <a:xfrm>
            <a:off x="769370" y="540688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ru-RU" sz="4374" dirty="0" smtClean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Реализация</a:t>
            </a:r>
            <a:endParaRPr lang="en-US" sz="4374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2037993" y="3937040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8" name="Text 1"/>
          <p:cNvSpPr/>
          <p:nvPr/>
        </p:nvSpPr>
        <p:spPr>
          <a:xfrm>
            <a:off x="769370" y="540688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ru-RU" sz="4374" dirty="0" smtClean="0">
                <a:solidFill>
                  <a:srgbClr val="1B1B27"/>
                </a:solidFill>
                <a:ea typeface="Corben" pitchFamily="34" charset="-122"/>
              </a:rPr>
              <a:t>Таблицы базы данных</a:t>
            </a:r>
            <a:endParaRPr lang="en-US" sz="4374" dirty="0"/>
          </a:p>
        </p:txBody>
      </p:sp>
      <p:pic>
        <p:nvPicPr>
          <p:cNvPr id="11" name="Рисунок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370" y="1775749"/>
            <a:ext cx="3365458" cy="248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Рисунок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993" y="4444422"/>
            <a:ext cx="6603916" cy="3424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Рисунок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4557" y="1409408"/>
            <a:ext cx="8333048" cy="2852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3737" y="4479484"/>
            <a:ext cx="5938283" cy="53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486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197113" y="1621360"/>
            <a:ext cx="10554414" cy="3066455"/>
          </a:xfrm>
          <a:prstGeom prst="roundRect">
            <a:avLst>
              <a:gd name="adj" fmla="val 326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0" name="Shape 0"/>
          <p:cNvSpPr/>
          <p:nvPr/>
        </p:nvSpPr>
        <p:spPr>
          <a:xfrm>
            <a:off x="2024221" y="706494"/>
            <a:ext cx="11029627" cy="4748375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sp>
        <p:nvSpPr>
          <p:cNvPr id="31" name="Скругленный прямоугольник 30"/>
          <p:cNvSpPr/>
          <p:nvPr/>
        </p:nvSpPr>
        <p:spPr>
          <a:xfrm>
            <a:off x="712001" y="4567483"/>
            <a:ext cx="4173385" cy="2733535"/>
          </a:xfrm>
          <a:prstGeom prst="roundRect">
            <a:avLst/>
          </a:prstGeom>
          <a:solidFill>
            <a:srgbClr val="D2D9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 1"/>
          <p:cNvSpPr/>
          <p:nvPr/>
        </p:nvSpPr>
        <p:spPr>
          <a:xfrm>
            <a:off x="1023461" y="533876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Заключение</a:t>
            </a:r>
            <a:endParaRPr lang="en-US" sz="4374" dirty="0"/>
          </a:p>
        </p:txBody>
      </p:sp>
      <p:sp>
        <p:nvSpPr>
          <p:cNvPr id="36" name="Скругленный прямоугольник 35"/>
          <p:cNvSpPr/>
          <p:nvPr/>
        </p:nvSpPr>
        <p:spPr>
          <a:xfrm>
            <a:off x="5228507" y="4571835"/>
            <a:ext cx="4173385" cy="2733535"/>
          </a:xfrm>
          <a:prstGeom prst="roundRect">
            <a:avLst/>
          </a:prstGeom>
          <a:solidFill>
            <a:srgbClr val="D2D9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Скругленный прямоугольник 39"/>
          <p:cNvSpPr/>
          <p:nvPr/>
        </p:nvSpPr>
        <p:spPr>
          <a:xfrm>
            <a:off x="9745013" y="4567483"/>
            <a:ext cx="4173385" cy="2733535"/>
          </a:xfrm>
          <a:prstGeom prst="roundRect">
            <a:avLst/>
          </a:prstGeom>
          <a:solidFill>
            <a:srgbClr val="D2D9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Скругленный прямоугольник 40"/>
          <p:cNvSpPr/>
          <p:nvPr/>
        </p:nvSpPr>
        <p:spPr>
          <a:xfrm>
            <a:off x="2952628" y="1423125"/>
            <a:ext cx="4173385" cy="2733535"/>
          </a:xfrm>
          <a:prstGeom prst="roundRect">
            <a:avLst/>
          </a:prstGeom>
          <a:solidFill>
            <a:srgbClr val="D2D9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Скругленный прямоугольник 41"/>
          <p:cNvSpPr/>
          <p:nvPr/>
        </p:nvSpPr>
        <p:spPr>
          <a:xfrm>
            <a:off x="7626787" y="1395945"/>
            <a:ext cx="4173385" cy="2733535"/>
          </a:xfrm>
          <a:prstGeom prst="roundRect">
            <a:avLst/>
          </a:prstGeom>
          <a:solidFill>
            <a:srgbClr val="D2D9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/>
          <p:cNvSpPr txBox="1"/>
          <p:nvPr/>
        </p:nvSpPr>
        <p:spPr>
          <a:xfrm>
            <a:off x="1079353" y="4928514"/>
            <a:ext cx="3493044" cy="2257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400" dirty="0" err="1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определив</a:t>
            </a:r>
            <a:r>
              <a:rPr lang="en-US" sz="2400" dirty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 </a:t>
            </a:r>
            <a:r>
              <a:rPr lang="en-US" sz="2400" dirty="0" err="1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модель</a:t>
            </a:r>
            <a:r>
              <a:rPr lang="en-US" sz="2400" dirty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 </a:t>
            </a:r>
            <a:r>
              <a:rPr lang="en-US" sz="2400" dirty="0" err="1" smtClean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бизнес-процесса</a:t>
            </a:r>
            <a:r>
              <a:rPr lang="en-US" sz="2400" dirty="0" smtClean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,</a:t>
            </a:r>
            <a:r>
              <a:rPr lang="en-US" sz="2400" dirty="0" smtClean="0">
                <a:latin typeface="Corben"/>
                <a:ea typeface="Corben"/>
              </a:rPr>
              <a:t> </a:t>
            </a:r>
            <a:r>
              <a:rPr lang="en-US" sz="2400" dirty="0" err="1" smtClean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спроектировали</a:t>
            </a:r>
            <a:r>
              <a:rPr lang="en-US" sz="2400" dirty="0" smtClean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 </a:t>
            </a:r>
            <a:r>
              <a:rPr lang="en-US" sz="2400" dirty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и </a:t>
            </a:r>
            <a:r>
              <a:rPr lang="en-US" sz="2400" dirty="0" err="1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заполнили</a:t>
            </a:r>
            <a:r>
              <a:rPr lang="en-US" sz="2400" dirty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 </a:t>
            </a:r>
            <a:r>
              <a:rPr lang="en-US" sz="2400" dirty="0" err="1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базу</a:t>
            </a:r>
            <a:r>
              <a:rPr lang="en-US" sz="2400" dirty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 </a:t>
            </a:r>
            <a:r>
              <a:rPr lang="en-US" sz="2400" dirty="0" err="1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данных</a:t>
            </a:r>
            <a:endParaRPr lang="en-US" sz="2400" dirty="0">
              <a:latin typeface="Corben"/>
              <a:ea typeface="Corben"/>
            </a:endParaRPr>
          </a:p>
          <a:p>
            <a:endParaRPr lang="ru-RU" sz="2400" dirty="0">
              <a:ea typeface="Corben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597387" y="5130170"/>
            <a:ext cx="3493044" cy="1528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400" dirty="0" err="1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изучили</a:t>
            </a:r>
            <a:r>
              <a:rPr lang="en-US" sz="2400" dirty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 </a:t>
            </a:r>
            <a:r>
              <a:rPr lang="en-US" sz="2400" dirty="0" err="1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программирование</a:t>
            </a:r>
            <a:r>
              <a:rPr lang="en-US" sz="2400" dirty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 </a:t>
            </a:r>
            <a:r>
              <a:rPr lang="en-US" sz="2400" dirty="0" err="1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графического</a:t>
            </a:r>
            <a:r>
              <a:rPr lang="en-US" sz="2400" dirty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 </a:t>
            </a:r>
            <a:r>
              <a:rPr lang="en-US" sz="2400" dirty="0" err="1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интерфейса</a:t>
            </a:r>
            <a:r>
              <a:rPr lang="en-US" sz="2400" dirty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 </a:t>
            </a:r>
            <a:r>
              <a:rPr lang="en-US" sz="2400" dirty="0" err="1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на</a:t>
            </a:r>
            <a:r>
              <a:rPr lang="en-US" sz="2400" dirty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 Python</a:t>
            </a:r>
            <a:endParaRPr lang="en-US" sz="2400" dirty="0">
              <a:latin typeface="Corben"/>
              <a:ea typeface="Corben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085183" y="5154848"/>
            <a:ext cx="3493044" cy="1528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400" dirty="0" err="1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системы</a:t>
            </a:r>
            <a:r>
              <a:rPr lang="en-US" sz="2400" dirty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 </a:t>
            </a:r>
            <a:r>
              <a:rPr lang="en-US" sz="2400" dirty="0" err="1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бронирования</a:t>
            </a:r>
            <a:r>
              <a:rPr lang="en-US" sz="2400" dirty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 в </a:t>
            </a:r>
            <a:r>
              <a:rPr lang="en-US" sz="2400" dirty="0" err="1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индустрии</a:t>
            </a:r>
            <a:r>
              <a:rPr lang="en-US" sz="2400" dirty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 </a:t>
            </a:r>
            <a:r>
              <a:rPr lang="en-US" sz="2400" dirty="0" err="1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на</a:t>
            </a:r>
            <a:r>
              <a:rPr lang="en-US" sz="2400" dirty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 </a:t>
            </a:r>
            <a:r>
              <a:rPr lang="en-US" sz="2400" dirty="0" err="1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российском</a:t>
            </a:r>
            <a:r>
              <a:rPr lang="en-US" sz="2400" dirty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 </a:t>
            </a:r>
            <a:r>
              <a:rPr lang="en-US" sz="2400" dirty="0" err="1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рынке</a:t>
            </a:r>
            <a:endParaRPr lang="en-US" sz="2400" dirty="0">
              <a:latin typeface="Corben"/>
              <a:ea typeface="Corben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262560" y="2143115"/>
            <a:ext cx="349304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400" dirty="0" err="1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мы</a:t>
            </a:r>
            <a:r>
              <a:rPr lang="en-US" sz="2400" dirty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 </a:t>
            </a:r>
            <a:r>
              <a:rPr lang="en-US" sz="2400" dirty="0" err="1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изучили</a:t>
            </a:r>
            <a:r>
              <a:rPr lang="en-US" sz="2400" dirty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 </a:t>
            </a:r>
            <a:r>
              <a:rPr lang="en-US" sz="2400" dirty="0" err="1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литературу</a:t>
            </a:r>
            <a:r>
              <a:rPr lang="en-US" sz="2400" dirty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 </a:t>
            </a:r>
            <a:r>
              <a:rPr lang="en-US" sz="2400" dirty="0" err="1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по</a:t>
            </a:r>
            <a:r>
              <a:rPr lang="en-US" sz="2400" dirty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 </a:t>
            </a:r>
            <a:r>
              <a:rPr lang="en-US" sz="2400" dirty="0" err="1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данной</a:t>
            </a:r>
            <a:r>
              <a:rPr lang="en-US" sz="2400" dirty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 </a:t>
            </a:r>
            <a:r>
              <a:rPr lang="en-US" sz="2400" dirty="0" err="1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проблеме</a:t>
            </a:r>
            <a:endParaRPr lang="en-US" sz="2400" dirty="0">
              <a:latin typeface="Corben"/>
              <a:ea typeface="Corben"/>
            </a:endParaRPr>
          </a:p>
          <a:p>
            <a:endParaRPr lang="ru-RU" dirty="0"/>
          </a:p>
        </p:txBody>
      </p:sp>
      <p:sp>
        <p:nvSpPr>
          <p:cNvPr id="55" name="TextBox 54"/>
          <p:cNvSpPr txBox="1"/>
          <p:nvPr/>
        </p:nvSpPr>
        <p:spPr>
          <a:xfrm>
            <a:off x="7938247" y="1977913"/>
            <a:ext cx="3493044" cy="1528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400" dirty="0" err="1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рассмотрели</a:t>
            </a:r>
            <a:r>
              <a:rPr lang="en-US" sz="2400" dirty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 и </a:t>
            </a:r>
            <a:r>
              <a:rPr lang="en-US" sz="2400" dirty="0" err="1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обобщили</a:t>
            </a:r>
            <a:r>
              <a:rPr lang="en-US" sz="2400" dirty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 </a:t>
            </a:r>
            <a:r>
              <a:rPr lang="en-US" sz="2400" dirty="0" err="1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цифровые</a:t>
            </a:r>
            <a:r>
              <a:rPr lang="en-US" sz="2400" dirty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 </a:t>
            </a:r>
            <a:r>
              <a:rPr lang="en-US" sz="2400" dirty="0" err="1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тренды</a:t>
            </a:r>
            <a:r>
              <a:rPr lang="en-US" sz="2400" dirty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 в </a:t>
            </a:r>
            <a:r>
              <a:rPr lang="en-US" sz="2400" dirty="0" err="1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спортивной</a:t>
            </a:r>
            <a:r>
              <a:rPr lang="en-US" sz="2400" dirty="0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 </a:t>
            </a:r>
            <a:r>
              <a:rPr lang="en-US" sz="2400" dirty="0" err="1">
                <a:solidFill>
                  <a:srgbClr val="404155"/>
                </a:solidFill>
                <a:latin typeface="Corben"/>
                <a:ea typeface="Corben"/>
                <a:cs typeface="Nobile" pitchFamily="34" charset="-120"/>
              </a:rPr>
              <a:t>сфере</a:t>
            </a:r>
            <a:endParaRPr lang="en-US" sz="2400" dirty="0">
              <a:latin typeface="Corben"/>
              <a:ea typeface="Corbe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381</Words>
  <Application>Microsoft Office PowerPoint</Application>
  <PresentationFormat>Произвольный</PresentationFormat>
  <Paragraphs>72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Calisto MT</vt:lpstr>
      <vt:lpstr>Corbel</vt:lpstr>
      <vt:lpstr>Corben</vt:lpstr>
      <vt:lpstr>Nobile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Danila</cp:lastModifiedBy>
  <cp:revision>26</cp:revision>
  <dcterms:created xsi:type="dcterms:W3CDTF">2024-03-14T13:33:59Z</dcterms:created>
  <dcterms:modified xsi:type="dcterms:W3CDTF">2024-03-15T11:20:36Z</dcterms:modified>
</cp:coreProperties>
</file>